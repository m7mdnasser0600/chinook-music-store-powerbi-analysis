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Zuume Rough Bold" charset="1" panose="00000800000000000000"/>
      <p:regular r:id="rId14"/>
    </p:embeddedFont>
    <p:embeddedFont>
      <p:font typeface="Open Sans Bold" charset="1" panose="00000000000000000000"/>
      <p:regular r:id="rId15"/>
    </p:embeddedFont>
    <p:embeddedFont>
      <p:font typeface="Open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22" r="0" b="-1522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1777156" y="-1568105"/>
            <a:ext cx="9056192" cy="13423210"/>
            <a:chOff x="0" y="0"/>
            <a:chExt cx="12852400" cy="190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60761" y="1017436"/>
              <a:ext cx="11530879" cy="17015129"/>
            </a:xfrm>
            <a:custGeom>
              <a:avLst/>
              <a:gdLst/>
              <a:ahLst/>
              <a:cxnLst/>
              <a:rect r="r" b="b" t="t" l="l"/>
              <a:pathLst>
                <a:path h="17015129" w="11530879">
                  <a:moveTo>
                    <a:pt x="5765439" y="85"/>
                  </a:moveTo>
                  <a:cubicBezTo>
                    <a:pt x="3708722" y="-13548"/>
                    <a:pt x="1804290" y="1604980"/>
                    <a:pt x="773267" y="4242804"/>
                  </a:cubicBezTo>
                  <a:cubicBezTo>
                    <a:pt x="-257756" y="6880628"/>
                    <a:pt x="-257756" y="10134501"/>
                    <a:pt x="773267" y="12772325"/>
                  </a:cubicBezTo>
                  <a:cubicBezTo>
                    <a:pt x="1804290" y="15410149"/>
                    <a:pt x="3708722" y="17028676"/>
                    <a:pt x="5765439" y="17015043"/>
                  </a:cubicBezTo>
                  <a:cubicBezTo>
                    <a:pt x="7822156" y="17028676"/>
                    <a:pt x="9726589" y="15410149"/>
                    <a:pt x="10757611" y="12772325"/>
                  </a:cubicBezTo>
                  <a:cubicBezTo>
                    <a:pt x="11788634" y="10134501"/>
                    <a:pt x="11788634" y="6880628"/>
                    <a:pt x="10757611" y="4242804"/>
                  </a:cubicBezTo>
                  <a:cubicBezTo>
                    <a:pt x="9726589" y="1604980"/>
                    <a:pt x="7822156" y="-13548"/>
                    <a:pt x="5765439" y="85"/>
                  </a:cubicBezTo>
                  <a:close/>
                </a:path>
              </a:pathLst>
            </a:custGeom>
            <a:blipFill>
              <a:blip r:embed="rId3"/>
              <a:stretch>
                <a:fillRect l="-60947" t="0" r="-60947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524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2852400">
                  <a:moveTo>
                    <a:pt x="0" y="0"/>
                  </a:moveTo>
                  <a:lnTo>
                    <a:pt x="12852400" y="0"/>
                  </a:lnTo>
                  <a:lnTo>
                    <a:pt x="128524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4"/>
              <a:stretch>
                <a:fillRect l="-24" t="0" r="-24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758057" y="1421064"/>
            <a:ext cx="7444873" cy="7444873"/>
            <a:chOff x="0" y="0"/>
            <a:chExt cx="19050000" cy="190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41564" y="780669"/>
              <a:ext cx="17566872" cy="17488662"/>
            </a:xfrm>
            <a:custGeom>
              <a:avLst/>
              <a:gdLst/>
              <a:ahLst/>
              <a:cxnLst/>
              <a:rect r="r" b="b" t="t" l="l"/>
              <a:pathLst>
                <a:path h="17488662" w="17566872">
                  <a:moveTo>
                    <a:pt x="8783436" y="88"/>
                  </a:moveTo>
                  <a:cubicBezTo>
                    <a:pt x="5650103" y="-13925"/>
                    <a:pt x="2748769" y="1649647"/>
                    <a:pt x="1178044" y="4360882"/>
                  </a:cubicBezTo>
                  <a:cubicBezTo>
                    <a:pt x="-392682" y="7072116"/>
                    <a:pt x="-392682" y="10416545"/>
                    <a:pt x="1178044" y="13127780"/>
                  </a:cubicBezTo>
                  <a:cubicBezTo>
                    <a:pt x="2748769" y="15839014"/>
                    <a:pt x="5650103" y="17502587"/>
                    <a:pt x="8783436" y="17488574"/>
                  </a:cubicBezTo>
                  <a:cubicBezTo>
                    <a:pt x="11916769" y="17502587"/>
                    <a:pt x="14818102" y="15839014"/>
                    <a:pt x="16388828" y="13127780"/>
                  </a:cubicBezTo>
                  <a:cubicBezTo>
                    <a:pt x="17959553" y="10416545"/>
                    <a:pt x="17959553" y="7072116"/>
                    <a:pt x="16388828" y="4360882"/>
                  </a:cubicBezTo>
                  <a:cubicBezTo>
                    <a:pt x="14818102" y="1649647"/>
                    <a:pt x="11916769" y="-13925"/>
                    <a:pt x="8783436" y="88"/>
                  </a:cubicBezTo>
                  <a:close/>
                </a:path>
              </a:pathLst>
            </a:custGeom>
            <a:blipFill>
              <a:blip r:embed="rId5"/>
              <a:stretch>
                <a:fillRect l="-40911" t="-17820" r="-3514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47787" y="768253"/>
            <a:ext cx="11287879" cy="737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6"/>
              </a:lnSpc>
              <a:spcBef>
                <a:spcPct val="0"/>
              </a:spcBef>
            </a:pPr>
            <a:r>
              <a:rPr lang="en-US" sz="13726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CHINOOK SALES PERFORMANCE ANALYSIS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3901" y="7697540"/>
            <a:ext cx="74915" cy="598393"/>
            <a:chOff x="0" y="0"/>
            <a:chExt cx="19731" cy="1576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31" cy="157601"/>
            </a:xfrm>
            <a:custGeom>
              <a:avLst/>
              <a:gdLst/>
              <a:ahLst/>
              <a:cxnLst/>
              <a:rect r="r" b="b" t="t" l="l"/>
              <a:pathLst>
                <a:path h="157601" w="19731">
                  <a:moveTo>
                    <a:pt x="0" y="0"/>
                  </a:moveTo>
                  <a:lnTo>
                    <a:pt x="19731" y="0"/>
                  </a:lnTo>
                  <a:lnTo>
                    <a:pt x="19731" y="157601"/>
                  </a:lnTo>
                  <a:lnTo>
                    <a:pt x="0" y="1576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731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805563" y="9593700"/>
            <a:ext cx="809760" cy="19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Next Slide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2218" y="7707065"/>
            <a:ext cx="641257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by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Mohamed AbdEl-Nasser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22" r="0" b="-1522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803843" y="1588669"/>
            <a:ext cx="7121769" cy="5246370"/>
            <a:chOff x="0" y="0"/>
            <a:chExt cx="19050000" cy="14033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169582" y="1014439"/>
              <a:ext cx="16710835" cy="12004622"/>
            </a:xfrm>
            <a:custGeom>
              <a:avLst/>
              <a:gdLst/>
              <a:ahLst/>
              <a:cxnLst/>
              <a:rect r="r" b="b" t="t" l="l"/>
              <a:pathLst>
                <a:path h="12004622" w="16710835">
                  <a:moveTo>
                    <a:pt x="0" y="0"/>
                  </a:moveTo>
                  <a:lnTo>
                    <a:pt x="16710835" y="0"/>
                  </a:lnTo>
                  <a:lnTo>
                    <a:pt x="16710835" y="12004622"/>
                  </a:lnTo>
                  <a:lnTo>
                    <a:pt x="0" y="12004622"/>
                  </a:lnTo>
                  <a:close/>
                </a:path>
              </a:pathLst>
            </a:custGeom>
            <a:blipFill>
              <a:blip r:embed="rId3"/>
              <a:stretch>
                <a:fillRect l="-3911" t="0" r="-3911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50000" cy="14033500"/>
            </a:xfrm>
            <a:custGeom>
              <a:avLst/>
              <a:gdLst/>
              <a:ahLst/>
              <a:cxnLst/>
              <a:rect r="r" b="b" t="t" l="l"/>
              <a:pathLst>
                <a:path h="140335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4033500"/>
                  </a:lnTo>
                  <a:lnTo>
                    <a:pt x="0" y="14033500"/>
                  </a:lnTo>
                  <a:close/>
                </a:path>
              </a:pathLst>
            </a:custGeom>
            <a:blipFill>
              <a:blip r:embed="rId4"/>
              <a:stretch>
                <a:fillRect l="0" t="-226" r="0" b="-226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501436" y="4971747"/>
            <a:ext cx="3726585" cy="3726585"/>
            <a:chOff x="0" y="0"/>
            <a:chExt cx="19050000" cy="190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41564" y="780669"/>
              <a:ext cx="17566872" cy="17488662"/>
            </a:xfrm>
            <a:custGeom>
              <a:avLst/>
              <a:gdLst/>
              <a:ahLst/>
              <a:cxnLst/>
              <a:rect r="r" b="b" t="t" l="l"/>
              <a:pathLst>
                <a:path h="17488662" w="17566872">
                  <a:moveTo>
                    <a:pt x="8783436" y="88"/>
                  </a:moveTo>
                  <a:cubicBezTo>
                    <a:pt x="5650103" y="-13925"/>
                    <a:pt x="2748769" y="1649647"/>
                    <a:pt x="1178044" y="4360882"/>
                  </a:cubicBezTo>
                  <a:cubicBezTo>
                    <a:pt x="-392682" y="7072116"/>
                    <a:pt x="-392682" y="10416545"/>
                    <a:pt x="1178044" y="13127780"/>
                  </a:cubicBezTo>
                  <a:cubicBezTo>
                    <a:pt x="2748769" y="15839014"/>
                    <a:pt x="5650103" y="17502587"/>
                    <a:pt x="8783436" y="17488574"/>
                  </a:cubicBezTo>
                  <a:cubicBezTo>
                    <a:pt x="11916769" y="17502587"/>
                    <a:pt x="14818102" y="15839014"/>
                    <a:pt x="16388828" y="13127780"/>
                  </a:cubicBezTo>
                  <a:cubicBezTo>
                    <a:pt x="17959553" y="10416545"/>
                    <a:pt x="17959553" y="7072116"/>
                    <a:pt x="16388828" y="4360882"/>
                  </a:cubicBezTo>
                  <a:cubicBezTo>
                    <a:pt x="14818102" y="1649647"/>
                    <a:pt x="11916769" y="-13925"/>
                    <a:pt x="8783436" y="88"/>
                  </a:cubicBezTo>
                  <a:close/>
                </a:path>
              </a:pathLst>
            </a:custGeom>
            <a:blipFill>
              <a:blip r:embed="rId5"/>
              <a:stretch>
                <a:fillRect l="-40869" t="0" r="-855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71750" y="3384218"/>
            <a:ext cx="6580164" cy="474817"/>
          </a:xfrm>
          <a:custGeom>
            <a:avLst/>
            <a:gdLst/>
            <a:ahLst/>
            <a:cxnLst/>
            <a:rect r="r" b="b" t="t" l="l"/>
            <a:pathLst>
              <a:path h="474817" w="6580164">
                <a:moveTo>
                  <a:pt x="0" y="0"/>
                </a:moveTo>
                <a:lnTo>
                  <a:pt x="6580164" y="0"/>
                </a:lnTo>
                <a:lnTo>
                  <a:pt x="6580164" y="474817"/>
                </a:lnTo>
                <a:lnTo>
                  <a:pt x="0" y="4748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291" r="0" b="-1929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983124" y="2119848"/>
            <a:ext cx="6146771" cy="145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BUSINESS OVERVIEW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983124" y="4455892"/>
            <a:ext cx="477324" cy="289866"/>
          </a:xfrm>
          <a:custGeom>
            <a:avLst/>
            <a:gdLst/>
            <a:ahLst/>
            <a:cxnLst/>
            <a:rect r="r" b="b" t="t" l="l"/>
            <a:pathLst>
              <a:path h="289866" w="477324">
                <a:moveTo>
                  <a:pt x="0" y="0"/>
                </a:moveTo>
                <a:lnTo>
                  <a:pt x="477324" y="0"/>
                </a:lnTo>
                <a:lnTo>
                  <a:pt x="477324" y="289866"/>
                </a:lnTo>
                <a:lnTo>
                  <a:pt x="0" y="2898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593506" y="4351016"/>
            <a:ext cx="6307009" cy="36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Digital music store dataset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93506" y="5310160"/>
            <a:ext cx="6307009" cy="36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Tracks, artists, customers, and sales transactions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93506" y="6299083"/>
            <a:ext cx="6307009" cy="36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Goal: Identify key revenue drivers and trends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983124" y="5357785"/>
            <a:ext cx="477324" cy="289866"/>
          </a:xfrm>
          <a:custGeom>
            <a:avLst/>
            <a:gdLst/>
            <a:ahLst/>
            <a:cxnLst/>
            <a:rect r="r" b="b" t="t" l="l"/>
            <a:pathLst>
              <a:path h="289866" w="477324">
                <a:moveTo>
                  <a:pt x="0" y="0"/>
                </a:moveTo>
                <a:lnTo>
                  <a:pt x="477324" y="0"/>
                </a:lnTo>
                <a:lnTo>
                  <a:pt x="477324" y="289866"/>
                </a:lnTo>
                <a:lnTo>
                  <a:pt x="0" y="2898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83124" y="6346708"/>
            <a:ext cx="477324" cy="289866"/>
          </a:xfrm>
          <a:custGeom>
            <a:avLst/>
            <a:gdLst/>
            <a:ahLst/>
            <a:cxnLst/>
            <a:rect r="r" b="b" t="t" l="l"/>
            <a:pathLst>
              <a:path h="289866" w="477324">
                <a:moveTo>
                  <a:pt x="0" y="0"/>
                </a:moveTo>
                <a:lnTo>
                  <a:pt x="477324" y="0"/>
                </a:lnTo>
                <a:lnTo>
                  <a:pt x="477324" y="289866"/>
                </a:lnTo>
                <a:lnTo>
                  <a:pt x="0" y="2898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22" r="0" b="-15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39023" y="301806"/>
            <a:ext cx="6598882" cy="1482364"/>
            <a:chOff x="0" y="0"/>
            <a:chExt cx="8798510" cy="19764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621272"/>
              <a:ext cx="8252840" cy="355214"/>
            </a:xfrm>
            <a:custGeom>
              <a:avLst/>
              <a:gdLst/>
              <a:ahLst/>
              <a:cxnLst/>
              <a:rect r="r" b="b" t="t" l="l"/>
              <a:pathLst>
                <a:path h="355214" w="8252840">
                  <a:moveTo>
                    <a:pt x="0" y="0"/>
                  </a:moveTo>
                  <a:lnTo>
                    <a:pt x="8252840" y="0"/>
                  </a:lnTo>
                  <a:lnTo>
                    <a:pt x="8252840" y="355214"/>
                  </a:lnTo>
                  <a:lnTo>
                    <a:pt x="0" y="355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6167" r="0" b="-6616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781083" y="-238125"/>
              <a:ext cx="8017427" cy="1859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9"/>
                </a:lnSpc>
                <a:spcBef>
                  <a:spcPct val="0"/>
                </a:spcBef>
              </a:pPr>
              <a:r>
                <a:rPr lang="en-US" sz="7999">
                  <a:solidFill>
                    <a:srgbClr val="FFFFFF"/>
                  </a:solidFill>
                  <a:latin typeface="Zuume Rough Bold"/>
                  <a:ea typeface="Zuume Rough Bold"/>
                  <a:cs typeface="Zuume Rough Bold"/>
                  <a:sym typeface="Zuume Rough Bold"/>
                </a:rPr>
                <a:t>REVENUE OVERVIEW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869233" y="2989300"/>
            <a:ext cx="518004" cy="314570"/>
          </a:xfrm>
          <a:custGeom>
            <a:avLst/>
            <a:gdLst/>
            <a:ahLst/>
            <a:cxnLst/>
            <a:rect r="r" b="b" t="t" l="l"/>
            <a:pathLst>
              <a:path h="314570" w="518004">
                <a:moveTo>
                  <a:pt x="0" y="0"/>
                </a:moveTo>
                <a:lnTo>
                  <a:pt x="518004" y="0"/>
                </a:lnTo>
                <a:lnTo>
                  <a:pt x="518004" y="314570"/>
                </a:lnTo>
                <a:lnTo>
                  <a:pt x="0" y="3145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5192" y="2927170"/>
            <a:ext cx="9074100" cy="2846999"/>
          </a:xfrm>
          <a:custGeom>
            <a:avLst/>
            <a:gdLst/>
            <a:ahLst/>
            <a:cxnLst/>
            <a:rect r="r" b="b" t="t" l="l"/>
            <a:pathLst>
              <a:path h="2846999" w="9074100">
                <a:moveTo>
                  <a:pt x="0" y="0"/>
                </a:moveTo>
                <a:lnTo>
                  <a:pt x="9074100" y="0"/>
                </a:lnTo>
                <a:lnTo>
                  <a:pt x="9074100" y="2846999"/>
                </a:lnTo>
                <a:lnTo>
                  <a:pt x="0" y="28469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7417" y="6088494"/>
            <a:ext cx="16831883" cy="3092859"/>
          </a:xfrm>
          <a:custGeom>
            <a:avLst/>
            <a:gdLst/>
            <a:ahLst/>
            <a:cxnLst/>
            <a:rect r="r" b="b" t="t" l="l"/>
            <a:pathLst>
              <a:path h="3092859" w="16831883">
                <a:moveTo>
                  <a:pt x="0" y="0"/>
                </a:moveTo>
                <a:lnTo>
                  <a:pt x="16831883" y="0"/>
                </a:lnTo>
                <a:lnTo>
                  <a:pt x="16831883" y="3092858"/>
                </a:lnTo>
                <a:lnTo>
                  <a:pt x="0" y="30928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531634" y="2879545"/>
            <a:ext cx="7677971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  <a:spcBef>
                <a:spcPct val="0"/>
              </a:spcBef>
            </a:pPr>
            <a:r>
              <a:rPr lang="en-US" sz="23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Revenue remains stable over time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1634" y="3920432"/>
            <a:ext cx="7677971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  <a:spcBef>
                <a:spcPct val="0"/>
              </a:spcBef>
            </a:pPr>
            <a:r>
              <a:rPr lang="en-US" sz="23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strong growth trend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1634" y="4993636"/>
            <a:ext cx="7677971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  <a:spcBef>
                <a:spcPct val="0"/>
              </a:spcBef>
            </a:pPr>
            <a:r>
              <a:rPr lang="en-US" sz="23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Consistent performance across periods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869233" y="3968057"/>
            <a:ext cx="518004" cy="314570"/>
          </a:xfrm>
          <a:custGeom>
            <a:avLst/>
            <a:gdLst/>
            <a:ahLst/>
            <a:cxnLst/>
            <a:rect r="r" b="b" t="t" l="l"/>
            <a:pathLst>
              <a:path h="314570" w="518004">
                <a:moveTo>
                  <a:pt x="0" y="0"/>
                </a:moveTo>
                <a:lnTo>
                  <a:pt x="518004" y="0"/>
                </a:lnTo>
                <a:lnTo>
                  <a:pt x="518004" y="314569"/>
                </a:lnTo>
                <a:lnTo>
                  <a:pt x="0" y="3145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69233" y="5041261"/>
            <a:ext cx="518004" cy="314570"/>
          </a:xfrm>
          <a:custGeom>
            <a:avLst/>
            <a:gdLst/>
            <a:ahLst/>
            <a:cxnLst/>
            <a:rect r="r" b="b" t="t" l="l"/>
            <a:pathLst>
              <a:path h="314570" w="518004">
                <a:moveTo>
                  <a:pt x="0" y="0"/>
                </a:moveTo>
                <a:lnTo>
                  <a:pt x="518004" y="0"/>
                </a:lnTo>
                <a:lnTo>
                  <a:pt x="518004" y="314570"/>
                </a:lnTo>
                <a:lnTo>
                  <a:pt x="0" y="3145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22" r="0" b="-15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41584" y="148979"/>
            <a:ext cx="7781158" cy="1482439"/>
            <a:chOff x="0" y="0"/>
            <a:chExt cx="10374878" cy="19765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621371"/>
              <a:ext cx="10141642" cy="355214"/>
            </a:xfrm>
            <a:custGeom>
              <a:avLst/>
              <a:gdLst/>
              <a:ahLst/>
              <a:cxnLst/>
              <a:rect r="r" b="b" t="t" l="l"/>
              <a:pathLst>
                <a:path h="355214" w="10141642">
                  <a:moveTo>
                    <a:pt x="0" y="0"/>
                  </a:moveTo>
                  <a:lnTo>
                    <a:pt x="10141642" y="0"/>
                  </a:lnTo>
                  <a:lnTo>
                    <a:pt x="10141642" y="355214"/>
                  </a:lnTo>
                  <a:lnTo>
                    <a:pt x="0" y="355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92754" r="0" b="-927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482851" y="-238125"/>
              <a:ext cx="9892026" cy="1859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9"/>
                </a:lnSpc>
                <a:spcBef>
                  <a:spcPct val="0"/>
                </a:spcBef>
              </a:pPr>
              <a:r>
                <a:rPr lang="en-US" sz="7999">
                  <a:solidFill>
                    <a:srgbClr val="FFFFFF"/>
                  </a:solidFill>
                  <a:latin typeface="Zuume Rough Bold"/>
                  <a:ea typeface="Zuume Rough Bold"/>
                  <a:cs typeface="Zuume Rough Bold"/>
                  <a:sym typeface="Zuume Rough Bold"/>
                </a:rPr>
                <a:t>ARTIST &amp; GENRE INSIGHTS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09064" y="7960306"/>
            <a:ext cx="442170" cy="268518"/>
          </a:xfrm>
          <a:custGeom>
            <a:avLst/>
            <a:gdLst/>
            <a:ahLst/>
            <a:cxnLst/>
            <a:rect r="r" b="b" t="t" l="l"/>
            <a:pathLst>
              <a:path h="268518" w="442170">
                <a:moveTo>
                  <a:pt x="0" y="0"/>
                </a:moveTo>
                <a:lnTo>
                  <a:pt x="442170" y="0"/>
                </a:lnTo>
                <a:lnTo>
                  <a:pt x="442170" y="268517"/>
                </a:lnTo>
                <a:lnTo>
                  <a:pt x="0" y="2685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902" y="1933804"/>
            <a:ext cx="8687161" cy="5031773"/>
          </a:xfrm>
          <a:custGeom>
            <a:avLst/>
            <a:gdLst/>
            <a:ahLst/>
            <a:cxnLst/>
            <a:rect r="r" b="b" t="t" l="l"/>
            <a:pathLst>
              <a:path h="5031773" w="8687161">
                <a:moveTo>
                  <a:pt x="0" y="0"/>
                </a:moveTo>
                <a:lnTo>
                  <a:pt x="8687161" y="0"/>
                </a:lnTo>
                <a:lnTo>
                  <a:pt x="8687161" y="5031773"/>
                </a:lnTo>
                <a:lnTo>
                  <a:pt x="0" y="50317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536" t="0" r="-253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34132" y="1933804"/>
            <a:ext cx="9127933" cy="5031773"/>
          </a:xfrm>
          <a:custGeom>
            <a:avLst/>
            <a:gdLst/>
            <a:ahLst/>
            <a:cxnLst/>
            <a:rect r="r" b="b" t="t" l="l"/>
            <a:pathLst>
              <a:path h="5031773" w="9127933">
                <a:moveTo>
                  <a:pt x="0" y="0"/>
                </a:moveTo>
                <a:lnTo>
                  <a:pt x="9127933" y="0"/>
                </a:lnTo>
                <a:lnTo>
                  <a:pt x="9127933" y="5031773"/>
                </a:lnTo>
                <a:lnTo>
                  <a:pt x="0" y="50317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7922" y="7913452"/>
            <a:ext cx="5722464" cy="37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5"/>
              </a:lnSpc>
              <a:spcBef>
                <a:spcPct val="0"/>
              </a:spcBef>
            </a:pPr>
            <a:r>
              <a:rPr lang="en-US" sz="22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 Artist: Iron Maiden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0270" y="7186694"/>
            <a:ext cx="7309388" cy="76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2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 Performers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7595216"/>
            <a:ext cx="2993283" cy="191091"/>
          </a:xfrm>
          <a:custGeom>
            <a:avLst/>
            <a:gdLst/>
            <a:ahLst/>
            <a:cxnLst/>
            <a:rect r="r" b="b" t="t" l="l"/>
            <a:pathLst>
              <a:path h="191091" w="2993283">
                <a:moveTo>
                  <a:pt x="0" y="0"/>
                </a:moveTo>
                <a:lnTo>
                  <a:pt x="2993283" y="0"/>
                </a:lnTo>
                <a:lnTo>
                  <a:pt x="2993283" y="191091"/>
                </a:lnTo>
                <a:lnTo>
                  <a:pt x="0" y="191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753" r="0" b="-5088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9064" y="8477131"/>
            <a:ext cx="442170" cy="268518"/>
          </a:xfrm>
          <a:custGeom>
            <a:avLst/>
            <a:gdLst/>
            <a:ahLst/>
            <a:cxnLst/>
            <a:rect r="r" b="b" t="t" l="l"/>
            <a:pathLst>
              <a:path h="268518" w="442170">
                <a:moveTo>
                  <a:pt x="0" y="0"/>
                </a:moveTo>
                <a:lnTo>
                  <a:pt x="442170" y="0"/>
                </a:lnTo>
                <a:lnTo>
                  <a:pt x="442170" y="268517"/>
                </a:lnTo>
                <a:lnTo>
                  <a:pt x="0" y="2685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47922" y="8430277"/>
            <a:ext cx="5970987" cy="37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5"/>
              </a:lnSpc>
              <a:spcBef>
                <a:spcPct val="0"/>
              </a:spcBef>
            </a:pPr>
            <a:r>
              <a:rPr lang="en-US" sz="22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Followed by U2, Metallica and Led Zeppelin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934132" y="7959690"/>
            <a:ext cx="411059" cy="249625"/>
          </a:xfrm>
          <a:custGeom>
            <a:avLst/>
            <a:gdLst/>
            <a:ahLst/>
            <a:cxnLst/>
            <a:rect r="r" b="b" t="t" l="l"/>
            <a:pathLst>
              <a:path h="249625" w="411059">
                <a:moveTo>
                  <a:pt x="0" y="0"/>
                </a:moveTo>
                <a:lnTo>
                  <a:pt x="411059" y="0"/>
                </a:lnTo>
                <a:lnTo>
                  <a:pt x="411059" y="249625"/>
                </a:lnTo>
                <a:lnTo>
                  <a:pt x="0" y="249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435076" y="7913452"/>
            <a:ext cx="6936613" cy="35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2"/>
              </a:lnSpc>
              <a:spcBef>
                <a:spcPct val="0"/>
              </a:spcBef>
            </a:pPr>
            <a:r>
              <a:rPr lang="en-US" sz="21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 Genre: Rock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34132" y="8440152"/>
            <a:ext cx="411059" cy="249625"/>
          </a:xfrm>
          <a:custGeom>
            <a:avLst/>
            <a:gdLst/>
            <a:ahLst/>
            <a:cxnLst/>
            <a:rect r="r" b="b" t="t" l="l"/>
            <a:pathLst>
              <a:path h="249625" w="411059">
                <a:moveTo>
                  <a:pt x="0" y="0"/>
                </a:moveTo>
                <a:lnTo>
                  <a:pt x="411059" y="0"/>
                </a:lnTo>
                <a:lnTo>
                  <a:pt x="411059" y="249625"/>
                </a:lnTo>
                <a:lnTo>
                  <a:pt x="0" y="249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435076" y="8393913"/>
            <a:ext cx="6936613" cy="35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2"/>
              </a:lnSpc>
              <a:spcBef>
                <a:spcPct val="0"/>
              </a:spcBef>
            </a:pPr>
            <a:r>
              <a:rPr lang="en-US" sz="21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Followed by Latin, Metal and Alt &amp; Punk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09064" y="9363328"/>
            <a:ext cx="441665" cy="268211"/>
          </a:xfrm>
          <a:custGeom>
            <a:avLst/>
            <a:gdLst/>
            <a:ahLst/>
            <a:cxnLst/>
            <a:rect r="r" b="b" t="t" l="l"/>
            <a:pathLst>
              <a:path h="268211" w="441665">
                <a:moveTo>
                  <a:pt x="0" y="0"/>
                </a:moveTo>
                <a:lnTo>
                  <a:pt x="441665" y="0"/>
                </a:lnTo>
                <a:lnTo>
                  <a:pt x="441665" y="268211"/>
                </a:lnTo>
                <a:lnTo>
                  <a:pt x="0" y="26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47307" y="9316484"/>
            <a:ext cx="7453085" cy="37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  <a:spcBef>
                <a:spcPct val="0"/>
              </a:spcBef>
            </a:pPr>
            <a:r>
              <a:rPr lang="en-US" sz="225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Revenue is highly concentrated in few artists &amp; genres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22" r="0" b="-15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41584" y="148979"/>
            <a:ext cx="6168328" cy="1482439"/>
            <a:chOff x="0" y="0"/>
            <a:chExt cx="8224437" cy="19765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621371"/>
              <a:ext cx="8224437" cy="355214"/>
            </a:xfrm>
            <a:custGeom>
              <a:avLst/>
              <a:gdLst/>
              <a:ahLst/>
              <a:cxnLst/>
              <a:rect r="r" b="b" t="t" l="l"/>
              <a:pathLst>
                <a:path h="355214" w="8224437">
                  <a:moveTo>
                    <a:pt x="0" y="0"/>
                  </a:moveTo>
                  <a:lnTo>
                    <a:pt x="8224437" y="0"/>
                  </a:lnTo>
                  <a:lnTo>
                    <a:pt x="8224437" y="355214"/>
                  </a:lnTo>
                  <a:lnTo>
                    <a:pt x="0" y="355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5767" r="0" b="-6576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91572" y="-238125"/>
              <a:ext cx="7832865" cy="1859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9"/>
                </a:lnSpc>
                <a:spcBef>
                  <a:spcPct val="0"/>
                </a:spcBef>
              </a:pPr>
              <a:r>
                <a:rPr lang="en-US" sz="7999">
                  <a:solidFill>
                    <a:srgbClr val="FFFFFF"/>
                  </a:solidFill>
                  <a:latin typeface="Zuume Rough Bold"/>
                  <a:ea typeface="Zuume Rough Bold"/>
                  <a:cs typeface="Zuume Rough Bold"/>
                  <a:sym typeface="Zuume Rough Bold"/>
                </a:rPr>
                <a:t>CATALOG INSIGHTS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09064" y="8927645"/>
            <a:ext cx="474152" cy="287939"/>
          </a:xfrm>
          <a:custGeom>
            <a:avLst/>
            <a:gdLst/>
            <a:ahLst/>
            <a:cxnLst/>
            <a:rect r="r" b="b" t="t" l="l"/>
            <a:pathLst>
              <a:path h="287939" w="474152">
                <a:moveTo>
                  <a:pt x="0" y="0"/>
                </a:moveTo>
                <a:lnTo>
                  <a:pt x="474152" y="0"/>
                </a:lnTo>
                <a:lnTo>
                  <a:pt x="474152" y="287939"/>
                </a:lnTo>
                <a:lnTo>
                  <a:pt x="0" y="2879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6897" y="8880157"/>
            <a:ext cx="5562545" cy="399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  <a:spcBef>
                <a:spcPct val="0"/>
              </a:spcBef>
            </a:pPr>
            <a:r>
              <a:rPr lang="en-US" sz="24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Most tracks: MPEG audio format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09064" y="9481851"/>
            <a:ext cx="474152" cy="287939"/>
          </a:xfrm>
          <a:custGeom>
            <a:avLst/>
            <a:gdLst/>
            <a:ahLst/>
            <a:cxnLst/>
            <a:rect r="r" b="b" t="t" l="l"/>
            <a:pathLst>
              <a:path h="287939" w="474152">
                <a:moveTo>
                  <a:pt x="0" y="0"/>
                </a:moveTo>
                <a:lnTo>
                  <a:pt x="474152" y="0"/>
                </a:lnTo>
                <a:lnTo>
                  <a:pt x="474152" y="287940"/>
                </a:lnTo>
                <a:lnTo>
                  <a:pt x="0" y="28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51686" y="8926984"/>
            <a:ext cx="440791" cy="267680"/>
          </a:xfrm>
          <a:custGeom>
            <a:avLst/>
            <a:gdLst/>
            <a:ahLst/>
            <a:cxnLst/>
            <a:rect r="r" b="b" t="t" l="l"/>
            <a:pathLst>
              <a:path h="267680" w="440791">
                <a:moveTo>
                  <a:pt x="0" y="0"/>
                </a:moveTo>
                <a:lnTo>
                  <a:pt x="440791" y="0"/>
                </a:lnTo>
                <a:lnTo>
                  <a:pt x="440791" y="267681"/>
                </a:lnTo>
                <a:lnTo>
                  <a:pt x="0" y="2676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51686" y="9442198"/>
            <a:ext cx="440791" cy="267680"/>
          </a:xfrm>
          <a:custGeom>
            <a:avLst/>
            <a:gdLst/>
            <a:ahLst/>
            <a:cxnLst/>
            <a:rect r="r" b="b" t="t" l="l"/>
            <a:pathLst>
              <a:path h="267680" w="440791">
                <a:moveTo>
                  <a:pt x="0" y="0"/>
                </a:moveTo>
                <a:lnTo>
                  <a:pt x="440791" y="0"/>
                </a:lnTo>
                <a:lnTo>
                  <a:pt x="440791" y="267680"/>
                </a:lnTo>
                <a:lnTo>
                  <a:pt x="0" y="2676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9064" y="1780533"/>
            <a:ext cx="7117390" cy="3362967"/>
          </a:xfrm>
          <a:custGeom>
            <a:avLst/>
            <a:gdLst/>
            <a:ahLst/>
            <a:cxnLst/>
            <a:rect r="r" b="b" t="t" l="l"/>
            <a:pathLst>
              <a:path h="3362967" w="7117390">
                <a:moveTo>
                  <a:pt x="0" y="0"/>
                </a:moveTo>
                <a:lnTo>
                  <a:pt x="7117390" y="0"/>
                </a:lnTo>
                <a:lnTo>
                  <a:pt x="7117390" y="3362967"/>
                </a:lnTo>
                <a:lnTo>
                  <a:pt x="0" y="33629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9064" y="5380053"/>
            <a:ext cx="7117390" cy="3193929"/>
          </a:xfrm>
          <a:custGeom>
            <a:avLst/>
            <a:gdLst/>
            <a:ahLst/>
            <a:cxnLst/>
            <a:rect r="r" b="b" t="t" l="l"/>
            <a:pathLst>
              <a:path h="3193929" w="7117390">
                <a:moveTo>
                  <a:pt x="0" y="0"/>
                </a:moveTo>
                <a:lnTo>
                  <a:pt x="7117390" y="0"/>
                </a:lnTo>
                <a:lnTo>
                  <a:pt x="7117390" y="3193929"/>
                </a:lnTo>
                <a:lnTo>
                  <a:pt x="0" y="31939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635989" y="1780533"/>
            <a:ext cx="7079930" cy="3362967"/>
          </a:xfrm>
          <a:custGeom>
            <a:avLst/>
            <a:gdLst/>
            <a:ahLst/>
            <a:cxnLst/>
            <a:rect r="r" b="b" t="t" l="l"/>
            <a:pathLst>
              <a:path h="3362967" w="7079930">
                <a:moveTo>
                  <a:pt x="0" y="0"/>
                </a:moveTo>
                <a:lnTo>
                  <a:pt x="7079930" y="0"/>
                </a:lnTo>
                <a:lnTo>
                  <a:pt x="7079930" y="3362967"/>
                </a:lnTo>
                <a:lnTo>
                  <a:pt x="0" y="33629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635989" y="5380053"/>
            <a:ext cx="7238365" cy="3193929"/>
          </a:xfrm>
          <a:custGeom>
            <a:avLst/>
            <a:gdLst/>
            <a:ahLst/>
            <a:cxnLst/>
            <a:rect r="r" b="b" t="t" l="l"/>
            <a:pathLst>
              <a:path h="3193929" w="7238365">
                <a:moveTo>
                  <a:pt x="0" y="0"/>
                </a:moveTo>
                <a:lnTo>
                  <a:pt x="7238366" y="0"/>
                </a:lnTo>
                <a:lnTo>
                  <a:pt x="7238366" y="3193929"/>
                </a:lnTo>
                <a:lnTo>
                  <a:pt x="0" y="31939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86897" y="9434364"/>
            <a:ext cx="6402867" cy="399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  <a:spcBef>
                <a:spcPct val="0"/>
              </a:spcBef>
            </a:pPr>
            <a:r>
              <a:rPr lang="en-US" sz="24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Best-selling format: MPEG audio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88863" y="8880158"/>
            <a:ext cx="7438337" cy="3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5"/>
              </a:lnSpc>
              <a:spcBef>
                <a:spcPct val="0"/>
              </a:spcBef>
            </a:pPr>
            <a:r>
              <a:rPr lang="en-US" sz="225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Most tracks: Medium length (3–7 min)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88863" y="9395371"/>
            <a:ext cx="7438337" cy="3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5"/>
              </a:lnSpc>
              <a:spcBef>
                <a:spcPct val="0"/>
              </a:spcBef>
            </a:pPr>
            <a:r>
              <a:rPr lang="en-US" sz="225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Medium length tracks generate highest sales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22" r="0" b="-15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414578"/>
            <a:ext cx="504542" cy="306395"/>
          </a:xfrm>
          <a:custGeom>
            <a:avLst/>
            <a:gdLst/>
            <a:ahLst/>
            <a:cxnLst/>
            <a:rect r="r" b="b" t="t" l="l"/>
            <a:pathLst>
              <a:path h="306395" w="504542">
                <a:moveTo>
                  <a:pt x="0" y="0"/>
                </a:moveTo>
                <a:lnTo>
                  <a:pt x="504542" y="0"/>
                </a:lnTo>
                <a:lnTo>
                  <a:pt x="504542" y="306395"/>
                </a:lnTo>
                <a:lnTo>
                  <a:pt x="0" y="3063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004306"/>
            <a:ext cx="504542" cy="306395"/>
          </a:xfrm>
          <a:custGeom>
            <a:avLst/>
            <a:gdLst/>
            <a:ahLst/>
            <a:cxnLst/>
            <a:rect r="r" b="b" t="t" l="l"/>
            <a:pathLst>
              <a:path h="306395" w="504542">
                <a:moveTo>
                  <a:pt x="0" y="0"/>
                </a:moveTo>
                <a:lnTo>
                  <a:pt x="504542" y="0"/>
                </a:lnTo>
                <a:lnTo>
                  <a:pt x="504542" y="306395"/>
                </a:lnTo>
                <a:lnTo>
                  <a:pt x="0" y="3063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582786"/>
            <a:ext cx="16032751" cy="4348884"/>
          </a:xfrm>
          <a:custGeom>
            <a:avLst/>
            <a:gdLst/>
            <a:ahLst/>
            <a:cxnLst/>
            <a:rect r="r" b="b" t="t" l="l"/>
            <a:pathLst>
              <a:path h="4348884" w="16032751">
                <a:moveTo>
                  <a:pt x="0" y="0"/>
                </a:moveTo>
                <a:lnTo>
                  <a:pt x="16032751" y="0"/>
                </a:lnTo>
                <a:lnTo>
                  <a:pt x="16032751" y="4348883"/>
                </a:lnTo>
                <a:lnTo>
                  <a:pt x="0" y="4348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1861" y="6017394"/>
            <a:ext cx="8279589" cy="4102453"/>
          </a:xfrm>
          <a:custGeom>
            <a:avLst/>
            <a:gdLst/>
            <a:ahLst/>
            <a:cxnLst/>
            <a:rect r="r" b="b" t="t" l="l"/>
            <a:pathLst>
              <a:path h="4102453" w="8279589">
                <a:moveTo>
                  <a:pt x="0" y="0"/>
                </a:moveTo>
                <a:lnTo>
                  <a:pt x="8279590" y="0"/>
                </a:lnTo>
                <a:lnTo>
                  <a:pt x="8279590" y="4102453"/>
                </a:lnTo>
                <a:lnTo>
                  <a:pt x="0" y="41024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626" r="0" b="-562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3569" y="6347439"/>
            <a:ext cx="5919072" cy="44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 country: USA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3569" y="6937168"/>
            <a:ext cx="6813255" cy="44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Followed by: Canada, Brazil and France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92468" y="148979"/>
            <a:ext cx="7734045" cy="1349233"/>
            <a:chOff x="0" y="0"/>
            <a:chExt cx="10312060" cy="17989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443764"/>
              <a:ext cx="10113238" cy="355214"/>
            </a:xfrm>
            <a:custGeom>
              <a:avLst/>
              <a:gdLst/>
              <a:ahLst/>
              <a:cxnLst/>
              <a:rect r="r" b="b" t="t" l="l"/>
              <a:pathLst>
                <a:path h="355214" w="10113238">
                  <a:moveTo>
                    <a:pt x="0" y="0"/>
                  </a:moveTo>
                  <a:lnTo>
                    <a:pt x="10113238" y="0"/>
                  </a:lnTo>
                  <a:lnTo>
                    <a:pt x="10113238" y="355214"/>
                  </a:lnTo>
                  <a:lnTo>
                    <a:pt x="0" y="355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-92354" r="0" b="-9235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590393" y="-238125"/>
              <a:ext cx="9721667" cy="1859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9"/>
                </a:lnSpc>
                <a:spcBef>
                  <a:spcPct val="0"/>
                </a:spcBef>
              </a:pPr>
              <a:r>
                <a:rPr lang="en-US" sz="7999">
                  <a:solidFill>
                    <a:srgbClr val="FFFFFF"/>
                  </a:solidFill>
                  <a:latin typeface="Zuume Rough Bold"/>
                  <a:ea typeface="Zuume Rough Bold"/>
                  <a:cs typeface="Zuume Rough Bold"/>
                  <a:sym typeface="Zuume Rough Bold"/>
                </a:rPr>
                <a:t>CUSTOMER &amp; GEOGRAPHY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7675941"/>
            <a:ext cx="504542" cy="306395"/>
          </a:xfrm>
          <a:custGeom>
            <a:avLst/>
            <a:gdLst/>
            <a:ahLst/>
            <a:cxnLst/>
            <a:rect r="r" b="b" t="t" l="l"/>
            <a:pathLst>
              <a:path h="306395" w="504542">
                <a:moveTo>
                  <a:pt x="0" y="0"/>
                </a:moveTo>
                <a:lnTo>
                  <a:pt x="504542" y="0"/>
                </a:lnTo>
                <a:lnTo>
                  <a:pt x="504542" y="306395"/>
                </a:lnTo>
                <a:lnTo>
                  <a:pt x="0" y="3063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43569" y="7608802"/>
            <a:ext cx="6813255" cy="44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Revenue concentrated in few regions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22" r="0" b="-15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77030" y="8789782"/>
            <a:ext cx="504542" cy="306395"/>
          </a:xfrm>
          <a:custGeom>
            <a:avLst/>
            <a:gdLst/>
            <a:ahLst/>
            <a:cxnLst/>
            <a:rect r="r" b="b" t="t" l="l"/>
            <a:pathLst>
              <a:path h="306395" w="504542">
                <a:moveTo>
                  <a:pt x="0" y="0"/>
                </a:moveTo>
                <a:lnTo>
                  <a:pt x="504542" y="0"/>
                </a:lnTo>
                <a:lnTo>
                  <a:pt x="504542" y="306394"/>
                </a:lnTo>
                <a:lnTo>
                  <a:pt x="0" y="306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942495" y="123313"/>
            <a:ext cx="5028656" cy="1259448"/>
            <a:chOff x="0" y="0"/>
            <a:chExt cx="6704875" cy="1679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443764"/>
              <a:ext cx="6704875" cy="235500"/>
            </a:xfrm>
            <a:custGeom>
              <a:avLst/>
              <a:gdLst/>
              <a:ahLst/>
              <a:cxnLst/>
              <a:rect r="r" b="b" t="t" l="l"/>
              <a:pathLst>
                <a:path h="235500" w="6704875">
                  <a:moveTo>
                    <a:pt x="0" y="0"/>
                  </a:moveTo>
                  <a:lnTo>
                    <a:pt x="6704875" y="0"/>
                  </a:lnTo>
                  <a:lnTo>
                    <a:pt x="6704875" y="235500"/>
                  </a:lnTo>
                  <a:lnTo>
                    <a:pt x="0" y="23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-92354" r="0" b="-9235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90393" y="-238125"/>
              <a:ext cx="6114482" cy="1859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9"/>
                </a:lnSpc>
                <a:spcBef>
                  <a:spcPct val="0"/>
                </a:spcBef>
              </a:pPr>
              <a:r>
                <a:rPr lang="en-US" sz="7999">
                  <a:solidFill>
                    <a:srgbClr val="FFFFFF"/>
                  </a:solidFill>
                  <a:latin typeface="Zuume Rough Bold"/>
                  <a:ea typeface="Zuume Rough Bold"/>
                  <a:cs typeface="Zuume Rough Bold"/>
                  <a:sym typeface="Zuume Rough Bold"/>
                </a:rPr>
                <a:t>TIME PATTERNS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91866" y="1666087"/>
            <a:ext cx="17428966" cy="3202572"/>
          </a:xfrm>
          <a:custGeom>
            <a:avLst/>
            <a:gdLst/>
            <a:ahLst/>
            <a:cxnLst/>
            <a:rect r="r" b="b" t="t" l="l"/>
            <a:pathLst>
              <a:path h="3202572" w="17428966">
                <a:moveTo>
                  <a:pt x="0" y="0"/>
                </a:moveTo>
                <a:lnTo>
                  <a:pt x="17428966" y="0"/>
                </a:lnTo>
                <a:lnTo>
                  <a:pt x="17428966" y="3202572"/>
                </a:lnTo>
                <a:lnTo>
                  <a:pt x="0" y="3202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1866" y="4975002"/>
            <a:ext cx="17428966" cy="3180786"/>
          </a:xfrm>
          <a:custGeom>
            <a:avLst/>
            <a:gdLst/>
            <a:ahLst/>
            <a:cxnLst/>
            <a:rect r="r" b="b" t="t" l="l"/>
            <a:pathLst>
              <a:path h="3180786" w="17428966">
                <a:moveTo>
                  <a:pt x="0" y="0"/>
                </a:moveTo>
                <a:lnTo>
                  <a:pt x="17428966" y="0"/>
                </a:lnTo>
                <a:lnTo>
                  <a:pt x="17428966" y="3180786"/>
                </a:lnTo>
                <a:lnTo>
                  <a:pt x="0" y="31807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91898" y="8722643"/>
            <a:ext cx="5919072" cy="44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Sales peak mid-month &amp; mid-year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22" r="0" b="-1522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803843" y="1588669"/>
            <a:ext cx="7121769" cy="5246370"/>
            <a:chOff x="0" y="0"/>
            <a:chExt cx="19050000" cy="14033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169582" y="1014439"/>
              <a:ext cx="16710835" cy="12004622"/>
            </a:xfrm>
            <a:custGeom>
              <a:avLst/>
              <a:gdLst/>
              <a:ahLst/>
              <a:cxnLst/>
              <a:rect r="r" b="b" t="t" l="l"/>
              <a:pathLst>
                <a:path h="12004622" w="16710835">
                  <a:moveTo>
                    <a:pt x="0" y="0"/>
                  </a:moveTo>
                  <a:lnTo>
                    <a:pt x="16710835" y="0"/>
                  </a:lnTo>
                  <a:lnTo>
                    <a:pt x="16710835" y="12004622"/>
                  </a:lnTo>
                  <a:lnTo>
                    <a:pt x="0" y="12004622"/>
                  </a:lnTo>
                  <a:close/>
                </a:path>
              </a:pathLst>
            </a:custGeom>
            <a:blipFill>
              <a:blip r:embed="rId3"/>
              <a:stretch>
                <a:fillRect l="-3911" t="0" r="-3911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50000" cy="14033500"/>
            </a:xfrm>
            <a:custGeom>
              <a:avLst/>
              <a:gdLst/>
              <a:ahLst/>
              <a:cxnLst/>
              <a:rect r="r" b="b" t="t" l="l"/>
              <a:pathLst>
                <a:path h="140335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4033500"/>
                  </a:lnTo>
                  <a:lnTo>
                    <a:pt x="0" y="14033500"/>
                  </a:lnTo>
                  <a:close/>
                </a:path>
              </a:pathLst>
            </a:custGeom>
            <a:blipFill>
              <a:blip r:embed="rId4"/>
              <a:stretch>
                <a:fillRect l="0" t="-226" r="0" b="-226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501436" y="4971747"/>
            <a:ext cx="3726585" cy="3726585"/>
            <a:chOff x="0" y="0"/>
            <a:chExt cx="19050000" cy="190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41564" y="780669"/>
              <a:ext cx="17566872" cy="17488662"/>
            </a:xfrm>
            <a:custGeom>
              <a:avLst/>
              <a:gdLst/>
              <a:ahLst/>
              <a:cxnLst/>
              <a:rect r="r" b="b" t="t" l="l"/>
              <a:pathLst>
                <a:path h="17488662" w="17566872">
                  <a:moveTo>
                    <a:pt x="8783436" y="88"/>
                  </a:moveTo>
                  <a:cubicBezTo>
                    <a:pt x="5650103" y="-13925"/>
                    <a:pt x="2748769" y="1649647"/>
                    <a:pt x="1178044" y="4360882"/>
                  </a:cubicBezTo>
                  <a:cubicBezTo>
                    <a:pt x="-392682" y="7072116"/>
                    <a:pt x="-392682" y="10416545"/>
                    <a:pt x="1178044" y="13127780"/>
                  </a:cubicBezTo>
                  <a:cubicBezTo>
                    <a:pt x="2748769" y="15839014"/>
                    <a:pt x="5650103" y="17502587"/>
                    <a:pt x="8783436" y="17488574"/>
                  </a:cubicBezTo>
                  <a:cubicBezTo>
                    <a:pt x="11916769" y="17502587"/>
                    <a:pt x="14818102" y="15839014"/>
                    <a:pt x="16388828" y="13127780"/>
                  </a:cubicBezTo>
                  <a:cubicBezTo>
                    <a:pt x="17959553" y="10416545"/>
                    <a:pt x="17959553" y="7072116"/>
                    <a:pt x="16388828" y="4360882"/>
                  </a:cubicBezTo>
                  <a:cubicBezTo>
                    <a:pt x="14818102" y="1649647"/>
                    <a:pt x="11916769" y="-13925"/>
                    <a:pt x="8783436" y="88"/>
                  </a:cubicBezTo>
                  <a:close/>
                </a:path>
              </a:pathLst>
            </a:custGeom>
            <a:blipFill>
              <a:blip r:embed="rId5"/>
              <a:stretch>
                <a:fillRect l="-40869" t="0" r="-855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71750" y="3384218"/>
            <a:ext cx="6580164" cy="474817"/>
          </a:xfrm>
          <a:custGeom>
            <a:avLst/>
            <a:gdLst/>
            <a:ahLst/>
            <a:cxnLst/>
            <a:rect r="r" b="b" t="t" l="l"/>
            <a:pathLst>
              <a:path h="474817" w="6580164">
                <a:moveTo>
                  <a:pt x="0" y="0"/>
                </a:moveTo>
                <a:lnTo>
                  <a:pt x="6580164" y="0"/>
                </a:lnTo>
                <a:lnTo>
                  <a:pt x="6580164" y="474817"/>
                </a:lnTo>
                <a:lnTo>
                  <a:pt x="0" y="4748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291" r="0" b="-1929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983124" y="2119848"/>
            <a:ext cx="6146771" cy="145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KEY TAKEAWAYS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983124" y="4455892"/>
            <a:ext cx="477324" cy="289866"/>
          </a:xfrm>
          <a:custGeom>
            <a:avLst/>
            <a:gdLst/>
            <a:ahLst/>
            <a:cxnLst/>
            <a:rect r="r" b="b" t="t" l="l"/>
            <a:pathLst>
              <a:path h="289866" w="477324">
                <a:moveTo>
                  <a:pt x="0" y="0"/>
                </a:moveTo>
                <a:lnTo>
                  <a:pt x="477324" y="0"/>
                </a:lnTo>
                <a:lnTo>
                  <a:pt x="477324" y="289866"/>
                </a:lnTo>
                <a:lnTo>
                  <a:pt x="0" y="2898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593506" y="4351016"/>
            <a:ext cx="6307009" cy="36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Revenue driven by Rock &amp; top artists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93506" y="5310160"/>
            <a:ext cx="6307009" cy="36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Iron Maiden dominates catalog &amp; sales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93506" y="6299083"/>
            <a:ext cx="6307009" cy="36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USA is the strongest market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983124" y="5357785"/>
            <a:ext cx="477324" cy="289866"/>
          </a:xfrm>
          <a:custGeom>
            <a:avLst/>
            <a:gdLst/>
            <a:ahLst/>
            <a:cxnLst/>
            <a:rect r="r" b="b" t="t" l="l"/>
            <a:pathLst>
              <a:path h="289866" w="477324">
                <a:moveTo>
                  <a:pt x="0" y="0"/>
                </a:moveTo>
                <a:lnTo>
                  <a:pt x="477324" y="0"/>
                </a:lnTo>
                <a:lnTo>
                  <a:pt x="477324" y="289866"/>
                </a:lnTo>
                <a:lnTo>
                  <a:pt x="0" y="2898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83124" y="6346708"/>
            <a:ext cx="477324" cy="289866"/>
          </a:xfrm>
          <a:custGeom>
            <a:avLst/>
            <a:gdLst/>
            <a:ahLst/>
            <a:cxnLst/>
            <a:rect r="r" b="b" t="t" l="l"/>
            <a:pathLst>
              <a:path h="289866" w="477324">
                <a:moveTo>
                  <a:pt x="0" y="0"/>
                </a:moveTo>
                <a:lnTo>
                  <a:pt x="477324" y="0"/>
                </a:lnTo>
                <a:lnTo>
                  <a:pt x="477324" y="289866"/>
                </a:lnTo>
                <a:lnTo>
                  <a:pt x="0" y="2898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93506" y="7161900"/>
            <a:ext cx="6307009" cy="36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Medium-length tracks perform best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983124" y="7209525"/>
            <a:ext cx="477324" cy="289866"/>
          </a:xfrm>
          <a:custGeom>
            <a:avLst/>
            <a:gdLst/>
            <a:ahLst/>
            <a:cxnLst/>
            <a:rect r="r" b="b" t="t" l="l"/>
            <a:pathLst>
              <a:path h="289866" w="477324">
                <a:moveTo>
                  <a:pt x="0" y="0"/>
                </a:moveTo>
                <a:lnTo>
                  <a:pt x="477324" y="0"/>
                </a:lnTo>
                <a:lnTo>
                  <a:pt x="477324" y="289866"/>
                </a:lnTo>
                <a:lnTo>
                  <a:pt x="0" y="2898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593506" y="8024717"/>
            <a:ext cx="6307009" cy="36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Sales peak mid-month &amp; mid-year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983124" y="8072342"/>
            <a:ext cx="477324" cy="289866"/>
          </a:xfrm>
          <a:custGeom>
            <a:avLst/>
            <a:gdLst/>
            <a:ahLst/>
            <a:cxnLst/>
            <a:rect r="r" b="b" t="t" l="l"/>
            <a:pathLst>
              <a:path h="289866" w="477324">
                <a:moveTo>
                  <a:pt x="0" y="0"/>
                </a:moveTo>
                <a:lnTo>
                  <a:pt x="477324" y="0"/>
                </a:lnTo>
                <a:lnTo>
                  <a:pt x="477324" y="289866"/>
                </a:lnTo>
                <a:lnTo>
                  <a:pt x="0" y="2898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DAHEVB8-ibo</dc:identifier>
  <dcterms:modified xsi:type="dcterms:W3CDTF">2011-08-01T06:04:30Z</dcterms:modified>
  <cp:revision>1</cp:revision>
  <dc:title>New Microsoft PowerPoint Presentation.pptx</dc:title>
</cp:coreProperties>
</file>